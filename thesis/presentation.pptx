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CNN</c:v>
                  </c:pt>
                  <c:pt idx="1">
                    <c:v>CNN+LSTM</c:v>
                  </c:pt>
                  <c:pt idx="2">
                    <c:v>PANNs+Lin</c:v>
                  </c:pt>
                  <c:pt idx="3">
                    <c:v>PANNs+LSTM</c:v>
                  </c:pt>
                  <c:pt idx="4">
                    <c:v>AST v2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35.3</c:v>
                </c:pt>
                <c:pt idx="1">
                  <c:v>32.2</c:v>
                </c:pt>
                <c:pt idx="2">
                  <c:v>24</c:v>
                </c:pt>
                <c:pt idx="3">
                  <c:v>32.9</c:v>
                </c:pt>
                <c:pt idx="4">
                  <c:v>40.6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Arousal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CNN</c:v>
                  </c:pt>
                  <c:pt idx="1">
                    <c:v>CNN+LSTM</c:v>
                  </c:pt>
                  <c:pt idx="2">
                    <c:v>PANNs+Lin</c:v>
                  </c:pt>
                  <c:pt idx="3">
                    <c:v>PANNs+LSTM</c:v>
                  </c:pt>
                  <c:pt idx="4">
                    <c:v>AST v2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</c:v>
                </c:pt>
                <c:pt idx="1">
                  <c:v>62.3</c:v>
                </c:pt>
                <c:pt idx="2">
                  <c:v>61.2</c:v>
                </c:pt>
                <c:pt idx="3">
                  <c:v>64.9</c:v>
                </c:pt>
                <c:pt idx="4">
                  <c:v>60.6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Valence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CNN</c:v>
                  </c:pt>
                  <c:pt idx="1">
                    <c:v>CNN+LSTM</c:v>
                  </c:pt>
                  <c:pt idx="2">
                    <c:v>PANNs+Lin</c:v>
                  </c:pt>
                  <c:pt idx="3">
                    <c:v>PANNs+LSTM</c:v>
                  </c:pt>
                  <c:pt idx="4">
                    <c:v>AST v2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51.7</c:v>
                </c:pt>
                <c:pt idx="1">
                  <c:v>54.2</c:v>
                </c:pt>
                <c:pt idx="2">
                  <c:v>53.8</c:v>
                </c:pt>
                <c:pt idx="3">
                  <c:v>55</c:v>
                </c:pt>
                <c:pt idx="4">
                  <c:v>51.1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Genre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CNN</c:v>
                  </c:pt>
                  <c:pt idx="1">
                    <c:v>CNN+LSTM</c:v>
                  </c:pt>
                  <c:pt idx="2">
                    <c:v>PANNs+Lin</c:v>
                  </c:pt>
                  <c:pt idx="3">
                    <c:v>PANNs+LSTM</c:v>
                  </c:pt>
                  <c:pt idx="4">
                    <c:v>AST v2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83.9</c:v>
                </c:pt>
                <c:pt idx="1">
                  <c:v>60.9</c:v>
                </c:pt>
                <c:pt idx="2">
                  <c:v>81.9</c:v>
                </c:pt>
                <c:pt idx="3">
                  <c:v>77.7</c:v>
                </c:pt>
                <c:pt idx="4">
                  <c:v>81.5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ФГБОУ ВО «Тверской государственный университет»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прикладной математики и кибернетики · Кафедра ИТ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Модуль автоматического анализа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музыкальных композиций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основе мульти-задачного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глубокого обучения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6400800" cy="594360"/>
          </a:xfrm>
          <a:prstGeom prst="roundRect">
            <a:avLst>
              <a:gd name="adj" fmla="val 9231"/>
            </a:avLst>
          </a:prstGeom>
          <a:solidFill>
            <a:srgbClr val="4F46E5">
              <a:alpha val="7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94436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предобученный трансформер одновременно понимает структуру, эмоции и жанр музыки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3931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Антонов М. Д., магистрант 2 курса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4160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Кудряшов М. Ю., к.ф.-м.н., доцент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Тверь,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Проблема: как анализировать 100M треков?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Сейчас — 4 отдельных модели: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Структура → отдельная модель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Эмоции → отдельная модель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Жанр → отдельная модель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Похожие треки → отдельная модель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модели · 4 прогона · несогласованные результаты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82880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Наш подход — 1 модель: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55464" y="1353312"/>
            <a:ext cx="45720" cy="22311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Структура (6 типов сегментов)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Энергия и настроение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Жанр (10 классов)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Похожие треки (по звучанию)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модель · 1 прогон · согласованная разметка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Обзор литературы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Ullrich et al., ISMIR 2014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HMM для сегментации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94183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941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≈ 0.46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08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IEEE TASLP 2022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709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для структуры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53619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361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≈ 0.55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et al., arXiv 2020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304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для эмоций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13055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E11D48">
              <a:alpha val="10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30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Arousal 70%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et al., IEEE TASLP 2020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2898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PANNs CNN14, pretrained AudioSet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72491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72491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87% GTZAN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38328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et al., Interspeech 2021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493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Spectrogram Transformer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331927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3192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89% GTZAN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886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Caruana, Machine Learning 1997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087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learning теория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91363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913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backbone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4F46E5">
              <a:alpha val="7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074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AST + multi-task + Viterbi post-processing — перспективная, но нереализованная комбинация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941832"/>
            <a:ext cx="45720" cy="448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Цель: разработать прототип системы автоматического многоаспектного анализа музыкальных композиций на основе мульти-задачной модели глубокого обучения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предметной области MIR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860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обучающего корпуса из 3 датасетов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346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и сравнение 5 архитектур мульти-задачных моделей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Пост-обработка предсказаний (Viterbi + музыкальные априори)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веб-прототипа с синхронизированным дашбордом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Архитектура: Audio Spectrogram Transformer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503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 (MP3/WAV)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10-сек окна, шаг 1 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190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спектрограмма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мел-полос × 431 фреймов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8680" y="22585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5877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8346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Патчи 16×16 → 768-dim токены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" y="31272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456432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CLS + Positional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Обучаемые embeddings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8229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468880" y="868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❄ FROZEN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62656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2962656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62656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64992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64992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767328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3767328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67328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69664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169664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9664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74336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4974336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74336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376672" y="1188720"/>
            <a:ext cx="347472" cy="100584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5376672" y="1188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76672" y="150876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977640" y="23957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377440" y="26517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🔥 TRAINABLE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06040" y="3017520"/>
            <a:ext cx="713232" cy="82296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2606040" y="30632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06040" y="33375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410712" y="3017520"/>
            <a:ext cx="713232" cy="82296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3410712" y="30632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10712" y="33375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215384" y="3017520"/>
            <a:ext cx="713232" cy="82296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4215384" y="30632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15384" y="33375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020056" y="3017520"/>
            <a:ext cx="713232" cy="82296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5020056" y="30632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020056" y="33375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FFN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377440" y="4069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 · 768-dim · 12 attention heads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09360" y="8229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30936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→ 768-dim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52360" y="12984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9360" y="155448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309360" y="1581912"/>
            <a:ext cx="25603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FC: 768→256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309360" y="1760220"/>
            <a:ext cx="25603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 + Dropout 0.4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52360" y="19842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09360" y="22860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4F46E5">
              <a:alpha val="12000"/>
            </a:srgbClr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23042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0936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классов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Intro·Verse·Chorus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Bridge·Instr·Outro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726680" y="22860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11D48">
              <a:alpha val="12000"/>
            </a:srgbClr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26680" y="23042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Arousal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7266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класса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Low·Mid·High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309360" y="329184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33101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30936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класса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Dark·Neutral·Bright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726680" y="329184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26680" y="33101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72668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классов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blues·classical·...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pop·rock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920240" y="1828800"/>
            <a:ext cx="4572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031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852160" y="1828800"/>
            <a:ext cx="4572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893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274320" y="44348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87M параметров всего · 14M обучаемых (freeze 8/12) · pretrained на AudioSet (2M клипов, 527 звуков)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сравнивали с CNN (SE), CNN+BiLSTM, PANNs+Linear, PANNs+BiLSTM — AST лучший по среднему (→ результаты)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чём обучали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987552"/>
            <a:ext cx="45720" cy="186537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1 802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треков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 и настроение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(arousal / valence)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MediaEval 2017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9544" y="987552"/>
            <a:ext cx="45720" cy="18653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Harmonix 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треков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композиции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типов сегментов)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Nieto et al. 2019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987552"/>
            <a:ext cx="45720" cy="18653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GTZAN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8952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треков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классов)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Tzanetakis 2002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3 544 трека · 176K обучающих окон · все три набора используются одновременно через RoundRobin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Обучение: Focal Loss + class weights · AdamW · differential LR (backbone 5e⁻⁵, головы 1e⁻³) · 1 GPU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нового в нашем подходе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987552"/>
            <a:ext cx="45720" cy="9509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для мульти-задачного MIR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Audio Spectrogram Transformer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применён к одновременному анализу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+ эмоций + жанра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" y="2267712"/>
            <a:ext cx="45720" cy="9509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Viterbi + музыкальные приоры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Пост-обработка с position priors: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«Intro не бывает в середине трека»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+14 пунктов Boundary F1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" y="3547872"/>
            <a:ext cx="45720" cy="9509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5 архитектур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CNN+BiLSTM · PANNs+Linear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PANNs+BiLSTM · 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едином корпусе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Результаты: AST побеждает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9144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01384" y="987552"/>
            <a:ext cx="45720" cy="314553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v2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40.6%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0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81.5%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675120" y="2971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58.5%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7512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Пост-обработка: Viterbi делает разницу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4904" y="987552"/>
            <a:ext cx="45720" cy="259689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Сырые предсказания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28 хаотичных сегментов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«Вступление» в середине трека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Chorus ↔ Bridge каждую секунду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Boundary F1 = 0.31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1828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55464" y="987552"/>
            <a:ext cx="45720" cy="2596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После Viterbi + priors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 осмысленных сегментов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Intro → начало, Outro → конец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Verse → Chorus → Bridge форма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Boundary F1 = 0.45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393192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4F46E5">
              <a:alpha val="8000"/>
            </a:srgbClr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 пунктов Boundary F1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Прототип в действии: структура + эмоции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548640"/>
            <a:ext cx="8686800" cy="438912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СКРИНШОТ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Win+Shift+S → Ctrl+V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Прототип: похожие треки + жанр + спектрограмма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548640"/>
            <a:ext cx="8686800" cy="438912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СКРИНШОТ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Win+Shift+S → Ctrl+V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Честный взгляд: ограничения и SOTA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с лучшими специализированными моделями: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83.9%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89%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−5.1 пп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40.6%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~45%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−4.4 пп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−5.1 пп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ожидаем: мы решаем 4 задачи одной моделью на 1 GPU, SOTA — одну задачу на кластерах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Ограничения: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2801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46904" y="1353312"/>
            <a:ext cx="45720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GTZAN: 10 жанров 2002 г.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Electronic, lo-fi не покрыты → top-3 + warning в UI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0574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46904" y="2130552"/>
            <a:ext cx="45720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≈ 40%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350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Фундаментальное ограничение данных → Viterbi помогает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8346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46904" y="2907792"/>
            <a:ext cx="45720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= 574 МБ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Тяжело для mobile → CNN-fallback 21 МБ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FMA для современных жанров · Knowledge distillation → mobile · Real-time streaming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941832"/>
            <a:ext cx="45720" cy="4754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99669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96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941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Построили единую модель для 4 задач анализа музыки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" y="1691640"/>
            <a:ext cx="457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7465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46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v2 — лучшая: segment 40.6%, genre 81.5%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" y="2441448"/>
            <a:ext cx="45720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49631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24414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+ position priors превращают шум в структуру (+14 пп F1)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" y="3191256"/>
            <a:ext cx="4572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24612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46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1912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Работающий веб-прототип с синхронизированным дашбордом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386791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" y="3941064"/>
            <a:ext cx="45720" cy="475488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99592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B556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39410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показали где модель ошибается и как это решать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анализа музыкальных композиций</dc:title>
  <dc:subject>PptxGenJS Presentation</dc:subject>
  <dc:creator>Антонов М.Д.</dc:creator>
  <cp:lastModifiedBy>Антонов М.Д.</cp:lastModifiedBy>
  <cp:revision>1</cp:revision>
  <dcterms:created xsi:type="dcterms:W3CDTF">2026-04-20T09:27:59Z</dcterms:created>
  <dcterms:modified xsi:type="dcterms:W3CDTF">2026-04-20T09:27:59Z</dcterms:modified>
</cp:coreProperties>
</file>